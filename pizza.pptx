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66" r:id="rId17"/>
  </p:sldIdLst>
  <p:sldSz cx="14630400" cy="8229600"/>
  <p:notesSz cx="8229600" cy="14630400"/>
  <p:embeddedFontLst>
    <p:embeddedFont>
      <p:font typeface="Arial Black" panose="020B0A04020102020204" pitchFamily="34" charset="0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</p:embeddedFont>
    <p:embeddedFont>
      <p:font typeface="Roboto Mono Medium" panose="020B0604020202020204" charset="0"/>
      <p:regular r:id="rId27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94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444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11" Type="http://schemas.openxmlformats.org/officeDocument/2006/relationships/image" Target="../media/image3.pn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svg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037" y="152995"/>
            <a:ext cx="5282327" cy="7923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04731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Pizzería Maestra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93790" y="1618178"/>
            <a:ext cx="7556421" cy="264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Sitio Web para Delivery a Domicilio</a:t>
            </a:r>
            <a:endParaRPr lang="en-US" sz="5500" dirty="0"/>
          </a:p>
        </p:txBody>
      </p:sp>
      <p:sp>
        <p:nvSpPr>
          <p:cNvPr id="6" name="Text 3"/>
          <p:cNvSpPr/>
          <p:nvPr/>
        </p:nvSpPr>
        <p:spPr>
          <a:xfrm>
            <a:off x="793790" y="4534376"/>
            <a:ext cx="75564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Avance 1 + 2 · Programación Web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3790" y="5051346"/>
            <a:ext cx="3686294" cy="1045845"/>
          </a:xfrm>
          <a:prstGeom prst="roundRect">
            <a:avLst>
              <a:gd name="adj" fmla="val 2928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997863" y="5255419"/>
            <a:ext cx="290786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Tamayo Rocha Héctor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663797" y="5051346"/>
            <a:ext cx="3686413" cy="1045845"/>
          </a:xfrm>
          <a:prstGeom prst="roundRect">
            <a:avLst>
              <a:gd name="adj" fmla="val 2928"/>
            </a:avLst>
          </a:prstGeom>
          <a:solidFill>
            <a:srgbClr val="404040"/>
          </a:solidFill>
          <a:ln/>
        </p:spPr>
      </p:sp>
      <p:sp>
        <p:nvSpPr>
          <p:cNvPr id="10" name="Text 7"/>
          <p:cNvSpPr/>
          <p:nvPr/>
        </p:nvSpPr>
        <p:spPr>
          <a:xfrm>
            <a:off x="4867870" y="5255419"/>
            <a:ext cx="327826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Fernando Magallanes de la Cruz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93790" y="6280904"/>
            <a:ext cx="7556421" cy="726996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997863" y="6484977"/>
            <a:ext cx="382619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Aldana Reyes Jesús Manuel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3790" y="7214592"/>
            <a:ext cx="75564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Maestra: Cristabel Armstrong Arámburo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63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Nuestro Cliente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5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Olga Trejo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803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Pizzería Maestra es un negocio local que opera de forma tradicional: teléfono y mostrador. La encargada validó los requerimientos con el objetivo de digitalizar y optimizar el proceso de ventas.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30436" y="3661291"/>
            <a:ext cx="6571417" cy="3381851"/>
          </a:xfrm>
          <a:prstGeom prst="roundRect">
            <a:avLst>
              <a:gd name="adj" fmla="val 1006"/>
            </a:avLst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888105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Problema Actual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469249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Saturación en horas pico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Errores frecuentes en la toma de pedidos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Pérdida de clientes potenciales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presencia digital ni catálogo en línea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88105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Solución Propuesta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469249"/>
            <a:ext cx="6244709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Catálogo digital del menú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Pedidos en línea disponibles 24/7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Personalización de pizzas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Rastreo de pedidos en tiempo real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administrativo completo con notificaciones WebSocket</a:t>
            </a:r>
            <a:endParaRPr lang="en-US" sz="17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C531AAA-0C37-4FA6-A1BD-7353DAC9E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9542" y="7713203"/>
            <a:ext cx="2490858" cy="5163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" y="127516"/>
            <a:ext cx="5316379" cy="7974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30687"/>
            <a:ext cx="484786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Actores del Sistema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80190" y="1453634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contempla cuatro perfiles de usuario con roles y permisos claramente diferenciados para cubrir todo el flujo operativo del negocio.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2073354"/>
            <a:ext cx="425291" cy="4252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0190" y="26580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Cliente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280190" y="3000256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el menú, personaliza su pizza, realiza pedidos y hace seguimiento de su entrega.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3493532"/>
            <a:ext cx="425291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0190" y="407824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Administrador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280190" y="4420433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 inventario, precios, promociones y visualiza reportes y pedidos en tiempo real.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4913709"/>
            <a:ext cx="425291" cy="4252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190" y="54984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Cocinero / Staff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80190" y="5840611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 la cola de pedidos entrantes para preparar los platillos en orden.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190" y="6333887"/>
            <a:ext cx="425291" cy="4252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80190" y="691860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Repartidor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280190" y="7260788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 el estado del pedido a «Entregado» una vez finalizada la ruta.</a:t>
            </a:r>
            <a:endParaRPr lang="en-US" sz="13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971858E-F4A1-4757-9132-5FBBFB6BA5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89686" y="7625834"/>
            <a:ext cx="2540714" cy="5267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4847"/>
            <a:ext cx="8846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Requerimientos Funcionales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683788"/>
            <a:ext cx="6571417" cy="3910965"/>
          </a:xfrm>
          <a:prstGeom prst="roundRect">
            <a:avLst>
              <a:gd name="adj" fmla="val 870"/>
            </a:avLst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91060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👤 Cliente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499366"/>
            <a:ext cx="6117788" cy="30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RF01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Visualizar el menú completo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RF02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Registrarse e iniciar sesión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RF03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Personalizar pizzas (tamaño, ingredientes, extras)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RF04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Agregar productos al carrito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RF05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Realizar pedidos en línea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RF06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Consultar el estado de su pedido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RF07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 historial de pedidos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1060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🛡️</a:t>
            </a: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Administrador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499366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RF08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Agregar, editar y eliminar productos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RF09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Actualizar precios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RF10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Visualizar pedidos en tiempo real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RF11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Cambiar el estado de pedidos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RF12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Gestionar usuarios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BF33101-EC57-4306-ABB1-2006C7A4E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1582" y="7520821"/>
            <a:ext cx="3418818" cy="7087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158"/>
            <a:ext cx="789241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Requerimientos No Funcionales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741408"/>
            <a:ext cx="4250769" cy="1945362"/>
          </a:xfrm>
          <a:prstGeom prst="roundRect">
            <a:avLst>
              <a:gd name="adj" fmla="val 1399"/>
            </a:avLst>
          </a:prstGeom>
          <a:solidFill>
            <a:srgbClr val="404040"/>
          </a:solidFill>
          <a:ln/>
        </p:spPr>
      </p:sp>
      <p:sp>
        <p:nvSpPr>
          <p:cNvPr id="4" name="Shape 2"/>
          <p:cNvSpPr/>
          <p:nvPr/>
        </p:nvSpPr>
        <p:spPr>
          <a:xfrm>
            <a:off x="975241" y="19228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3" y="2072521"/>
            <a:ext cx="244912" cy="244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5241" y="2612350"/>
            <a:ext cx="244875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RNF01 · Responsivo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75241" y="2982873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Compatible con móviles y escritorio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89696" y="1741408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5371148" y="19228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0809" y="2072521"/>
            <a:ext cx="244912" cy="244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1148" y="2612350"/>
            <a:ext cx="258484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RNF03 · Rendimiento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371148" y="2982873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de carga menor a 3 segundos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585722" y="1741408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404040"/>
          </a:solidFill>
          <a:ln/>
        </p:spPr>
      </p:sp>
      <p:sp>
        <p:nvSpPr>
          <p:cNvPr id="14" name="Shape 10"/>
          <p:cNvSpPr/>
          <p:nvPr/>
        </p:nvSpPr>
        <p:spPr>
          <a:xfrm>
            <a:off x="9767173" y="19228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6835" y="2072521"/>
            <a:ext cx="244912" cy="244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67173" y="2612350"/>
            <a:ext cx="231267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RNF02 · Seguridad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767173" y="2982873"/>
            <a:ext cx="388798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de usuarios almacenados de forma segura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93790" y="3831908"/>
            <a:ext cx="4250769" cy="168413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</p:sp>
      <p:sp>
        <p:nvSpPr>
          <p:cNvPr id="19" name="Shape 14"/>
          <p:cNvSpPr/>
          <p:nvPr/>
        </p:nvSpPr>
        <p:spPr>
          <a:xfrm>
            <a:off x="975241" y="40133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4903" y="4163020"/>
            <a:ext cx="244912" cy="244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5241" y="4702850"/>
            <a:ext cx="299287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RNF04 · Disponibilidad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975241" y="5073372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disponible las 24 horas, 7 días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189696" y="3831908"/>
            <a:ext cx="4250888" cy="168413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</p:sp>
      <p:sp>
        <p:nvSpPr>
          <p:cNvPr id="24" name="Shape 18"/>
          <p:cNvSpPr/>
          <p:nvPr/>
        </p:nvSpPr>
        <p:spPr>
          <a:xfrm>
            <a:off x="5371148" y="40133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0809" y="4163020"/>
            <a:ext cx="244912" cy="244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1148" y="4702850"/>
            <a:ext cx="299287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RNF06 · Compatibilidad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5371148" y="5073372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Funcional en todos los navegadores modernos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9585722" y="3831908"/>
            <a:ext cx="4250888" cy="168413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</p:sp>
      <p:sp>
        <p:nvSpPr>
          <p:cNvPr id="29" name="Shape 22"/>
          <p:cNvSpPr/>
          <p:nvPr/>
        </p:nvSpPr>
        <p:spPr>
          <a:xfrm>
            <a:off x="9767173" y="401335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16835" y="4163020"/>
            <a:ext cx="244912" cy="244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67173" y="4702850"/>
            <a:ext cx="244875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RNF05 · Usabilidad</a:t>
            </a:r>
            <a:endParaRPr lang="en-US" sz="1750" dirty="0"/>
          </a:p>
        </p:txBody>
      </p:sp>
      <p:sp>
        <p:nvSpPr>
          <p:cNvPr id="32" name="Text 24"/>
          <p:cNvSpPr/>
          <p:nvPr/>
        </p:nvSpPr>
        <p:spPr>
          <a:xfrm>
            <a:off x="9767173" y="5073372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intuitiva y fácil de usar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793790" y="5661184"/>
            <a:ext cx="13042821" cy="168413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</p:sp>
      <p:sp>
        <p:nvSpPr>
          <p:cNvPr id="34" name="Shape 26"/>
          <p:cNvSpPr/>
          <p:nvPr/>
        </p:nvSpPr>
        <p:spPr>
          <a:xfrm>
            <a:off x="975241" y="5842635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DCFF5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4903" y="5992297"/>
            <a:ext cx="244912" cy="2449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75241" y="6532126"/>
            <a:ext cx="28569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RNF07 · Escalabilidad</a:t>
            </a:r>
            <a:endParaRPr lang="en-US" sz="1750" dirty="0"/>
          </a:p>
        </p:txBody>
      </p:sp>
      <p:sp>
        <p:nvSpPr>
          <p:cNvPr id="37" name="Text 28"/>
          <p:cNvSpPr/>
          <p:nvPr/>
        </p:nvSpPr>
        <p:spPr>
          <a:xfrm>
            <a:off x="975241" y="6902648"/>
            <a:ext cx="126799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preparada para crecer con el negocio</a:t>
            </a:r>
            <a:endParaRPr lang="en-US" sz="14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7B90002E-A066-4268-9744-868F47EA97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4691" y="7685246"/>
            <a:ext cx="2625709" cy="544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822"/>
            <a:ext cx="52060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Stack Tecnológico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673185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Tecnologías modernas y robustas seleccionadas para garantizar rendimiento, escalabilidad y mantenibilidad a largo plazo.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90155"/>
            <a:ext cx="1223010" cy="1223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427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Angular 17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3790" y="4071699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SPA moderna, requerida en el proyecto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823" y="2190155"/>
            <a:ext cx="1223010" cy="12230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1823" y="36427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NestJS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111823" y="4071699"/>
            <a:ext cx="308860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Arquitectura modular con TypeScript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976" y="2190155"/>
            <a:ext cx="1223010" cy="12230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29976" y="36427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429976" y="4071699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de datos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Relacional, ideal para pedidos y usuarios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8010" y="2190155"/>
            <a:ext cx="1223010" cy="12230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48010" y="36427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Firebase Storage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0748010" y="4071699"/>
            <a:ext cx="308860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Almacenamiento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Imágenes de productos en la nube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059680"/>
            <a:ext cx="1223010" cy="12230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65122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93790" y="6941225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Contenedores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Un contenedor por servicio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823" y="5059680"/>
            <a:ext cx="1223010" cy="122301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111823" y="65122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GCP / Cloud Run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4111823" y="6941225"/>
            <a:ext cx="308860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Dominio real del cliente, escalable</a:t>
            </a:r>
            <a:endParaRPr lang="en-US" sz="16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976" y="5059680"/>
            <a:ext cx="1223010" cy="122301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29976" y="65122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 / GitHub</a:t>
            </a:r>
            <a:endParaRPr lang="en-US" sz="2000" dirty="0"/>
          </a:p>
        </p:txBody>
      </p:sp>
      <p:sp>
        <p:nvSpPr>
          <p:cNvPr id="24" name="Text 15"/>
          <p:cNvSpPr/>
          <p:nvPr/>
        </p:nvSpPr>
        <p:spPr>
          <a:xfrm>
            <a:off x="7429976" y="6941225"/>
            <a:ext cx="30884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Versiones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Ramas por funcionalidad</a:t>
            </a:r>
            <a:endParaRPr lang="en-US" sz="16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EB4D953E-8A1F-4660-B06A-F87ED731B8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4875" y="7338179"/>
            <a:ext cx="4165525" cy="863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5932"/>
            <a:ext cx="571547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del Sistema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73768"/>
            <a:ext cx="4429363" cy="44293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12" y="1302377"/>
            <a:ext cx="4596917" cy="47245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6416" y="3398401"/>
            <a:ext cx="249983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Flujo de comunicación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516416" y="3757493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sigue un patrón de capas bien definido que separa responsabilidades y facilita el mantenimiento.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321" y="6261021"/>
            <a:ext cx="238125" cy="23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9687" y="6253163"/>
            <a:ext cx="593609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 → Nginx:</a:t>
            </a: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Reverse proxy con HTTPS y CORS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4145" y="6261021"/>
            <a:ext cx="238125" cy="2381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00511" y="6253163"/>
            <a:ext cx="593609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Nginx → NestJS:</a:t>
            </a: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Autenticación JWT y módulos modulares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321" y="6967418"/>
            <a:ext cx="238125" cy="2381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09687" y="6959560"/>
            <a:ext cx="593609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NestJS → PostgreSQL:</a:t>
            </a: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Persistencia relacional de datos</a:t>
            </a:r>
            <a:endParaRPr lang="en-US" sz="12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4145" y="6967418"/>
            <a:ext cx="238125" cy="2381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900511" y="6959560"/>
            <a:ext cx="593609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 + WebSocket:</a:t>
            </a: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JSON en tiempo real al cliente</a:t>
            </a:r>
            <a:endParaRPr lang="en-US" sz="12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DC53169-0828-4D4B-951F-516D0CDD8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3605" y="7502582"/>
            <a:ext cx="3506795" cy="7270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14" y="489109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Flujo del Pedido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7814" y="976432"/>
            <a:ext cx="369474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85454" y="976432"/>
            <a:ext cx="9444633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62" y="665440"/>
            <a:ext cx="7127438" cy="2855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7814" y="4156115"/>
            <a:ext cx="1341477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proceso de cinco etapas diseñado para ser intuitivo para el cliente y eficiente para el equipo de la pizzería.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14" y="4354354"/>
            <a:ext cx="564356" cy="677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8249" y="4467225"/>
            <a:ext cx="1411010" cy="1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 · Exploración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28249" y="4677251"/>
            <a:ext cx="1279433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cliente accede al catálogo digital sin necesidad de registrarse.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14" y="5031581"/>
            <a:ext cx="564356" cy="6772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28249" y="5144453"/>
            <a:ext cx="1411010" cy="1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 · Selección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28249" y="5354479"/>
            <a:ext cx="1279433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Elige productos y personaliza ingredientes a su gusto.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14" y="5708809"/>
            <a:ext cx="564356" cy="6772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8249" y="5821680"/>
            <a:ext cx="1411010" cy="1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 · Validación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228249" y="6031706"/>
            <a:ext cx="1279433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verifica disponibilidad y calcula el costo de envío.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14" y="6386036"/>
            <a:ext cx="564356" cy="6772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28249" y="6498908"/>
            <a:ext cx="1411010" cy="1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 · Confirmación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228249" y="6708934"/>
            <a:ext cx="1279433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ticket digital llega al panel de cocina y administración.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814" y="7063264"/>
            <a:ext cx="564356" cy="6772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28249" y="7176135"/>
            <a:ext cx="1411010" cy="1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 · Cierre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228249" y="7386161"/>
            <a:ext cx="1279433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admin marca el pedido como «En camino» o «Finalizado».</a:t>
            </a:r>
            <a:endParaRPr lang="en-US" sz="1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243445D-CF6A-4249-8235-AFADBBEB11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1338" y="7063264"/>
            <a:ext cx="5159062" cy="1069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0344"/>
            <a:ext cx="857452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Costos de Producción y Venta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47505"/>
            <a:ext cx="353163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💰 Costos de Producción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480667"/>
            <a:ext cx="6272451" cy="4691777"/>
          </a:xfrm>
          <a:prstGeom prst="roundRect">
            <a:avLst>
              <a:gd name="adj" fmla="val 65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88287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483" y="260604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37898" y="260604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410" y="3034070"/>
            <a:ext cx="625721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483" y="3151823"/>
            <a:ext cx="2716649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(3 devs × 120h × $80/h)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37898" y="315182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$28,800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1410" y="3890129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5483" y="4007882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Dominio (1 año)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37898" y="4007882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1410" y="4435912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483" y="4553664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Hosting GCP Cloud Run (×12)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37898" y="4553664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$1,440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410" y="4981694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5483" y="5099447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Storage (×12)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37898" y="5099447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$240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1410" y="5527477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5483" y="5645229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UI/UX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37898" y="5645229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$2,500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1410" y="6073259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05483" y="6191012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y QA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37898" y="6191012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$1,500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1410" y="6619042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05483" y="6736794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estimado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37898" y="6736794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$34,780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24857" y="1763792"/>
            <a:ext cx="6566297" cy="5615345"/>
          </a:xfrm>
          <a:prstGeom prst="roundRect">
            <a:avLst>
              <a:gd name="adj" fmla="val 545"/>
            </a:avLst>
          </a:prstGeom>
          <a:solidFill>
            <a:srgbClr val="CCCCCC"/>
          </a:solidFill>
          <a:ln/>
        </p:spPr>
      </p:sp>
      <p:sp>
        <p:nvSpPr>
          <p:cNvPr id="30" name="Text 28"/>
          <p:cNvSpPr/>
          <p:nvPr/>
        </p:nvSpPr>
        <p:spPr>
          <a:xfrm>
            <a:off x="7628930" y="1947505"/>
            <a:ext cx="322552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📊 Propuesta de Venta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8930" y="2457688"/>
            <a:ext cx="61581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del sitio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(pago único): $45,000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Mantenimiento mensual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$1,500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técnico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(primer año): Incluido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Capacitación al cliente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Incluida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8930" y="4098369"/>
            <a:ext cx="6158151" cy="1122521"/>
          </a:xfrm>
          <a:prstGeom prst="roundRect">
            <a:avLst>
              <a:gd name="adj" fmla="val 2728"/>
            </a:avLst>
          </a:prstGeom>
          <a:solidFill>
            <a:srgbClr val="183A13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03" y="4395788"/>
            <a:ext cx="255151" cy="20407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92227" y="4333042"/>
            <a:ext cx="529078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📈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estimado: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+30% en ventas durante los primeros 3 meses.</a:t>
            </a:r>
            <a:endParaRPr lang="en-US" sz="16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91EB37D3-1EF2-4E40-A4B8-CEF8B855C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566" y="7700918"/>
            <a:ext cx="2734057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5932"/>
            <a:ext cx="65316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Metodología y Planeación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410891"/>
            <a:ext cx="226826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🔄</a:t>
            </a: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Scrum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1919645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Scrum Master: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Coordina y elimina impedimentos. </a:t>
            </a: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Owner: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Prioriza requerimientos. </a:t>
            </a: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 Team (3):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Diseño, programación y pruebas.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398514"/>
            <a:ext cx="226826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📋</a:t>
            </a: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Tablero Ágil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2907268"/>
            <a:ext cx="13042821" cy="1292781"/>
          </a:xfrm>
          <a:prstGeom prst="roundRect">
            <a:avLst>
              <a:gd name="adj" fmla="val 2105"/>
            </a:avLst>
          </a:prstGeom>
          <a:solidFill>
            <a:srgbClr val="404040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907268"/>
            <a:ext cx="4347567" cy="646390"/>
          </a:xfrm>
          <a:prstGeom prst="roundRect">
            <a:avLst>
              <a:gd name="adj" fmla="val 4211"/>
            </a:avLst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975241" y="30887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Backlog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141357" y="2907268"/>
            <a:ext cx="4347567" cy="64639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Shape 8"/>
          <p:cNvSpPr/>
          <p:nvPr/>
        </p:nvSpPr>
        <p:spPr>
          <a:xfrm>
            <a:off x="5141357" y="2907268"/>
            <a:ext cx="22860" cy="646390"/>
          </a:xfrm>
          <a:prstGeom prst="roundRect">
            <a:avLst>
              <a:gd name="adj" fmla="val 119070"/>
            </a:avLst>
          </a:prstGeom>
          <a:solidFill>
            <a:srgbClr val="595959"/>
          </a:solidFill>
          <a:ln/>
        </p:spPr>
      </p:sp>
      <p:sp>
        <p:nvSpPr>
          <p:cNvPr id="11" name="Text 9"/>
          <p:cNvSpPr/>
          <p:nvPr/>
        </p:nvSpPr>
        <p:spPr>
          <a:xfrm>
            <a:off x="5322808" y="30887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Pendiente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88924" y="2907268"/>
            <a:ext cx="4347567" cy="64639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8924" y="2907268"/>
            <a:ext cx="22860" cy="646390"/>
          </a:xfrm>
          <a:prstGeom prst="roundRect">
            <a:avLst>
              <a:gd name="adj" fmla="val 119070"/>
            </a:avLst>
          </a:prstGeom>
          <a:solidFill>
            <a:srgbClr val="595959"/>
          </a:solidFill>
          <a:ln/>
        </p:spPr>
      </p:sp>
      <p:sp>
        <p:nvSpPr>
          <p:cNvPr id="14" name="Text 12"/>
          <p:cNvSpPr/>
          <p:nvPr/>
        </p:nvSpPr>
        <p:spPr>
          <a:xfrm>
            <a:off x="9670375" y="30887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 progreso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3553658"/>
            <a:ext cx="6521291" cy="64639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3553658"/>
            <a:ext cx="6521291" cy="22860"/>
          </a:xfrm>
          <a:prstGeom prst="roundRect">
            <a:avLst>
              <a:gd name="adj" fmla="val 119070"/>
            </a:avLst>
          </a:prstGeom>
          <a:solidFill>
            <a:srgbClr val="595959"/>
          </a:solidFill>
          <a:ln/>
        </p:spPr>
      </p:sp>
      <p:sp>
        <p:nvSpPr>
          <p:cNvPr id="17" name="Text 15"/>
          <p:cNvSpPr/>
          <p:nvPr/>
        </p:nvSpPr>
        <p:spPr>
          <a:xfrm>
            <a:off x="975241" y="37351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 pruebas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315081" y="3553658"/>
            <a:ext cx="6521410" cy="64639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081" y="3553658"/>
            <a:ext cx="22860" cy="646390"/>
          </a:xfrm>
          <a:prstGeom prst="roundRect">
            <a:avLst>
              <a:gd name="adj" fmla="val 119070"/>
            </a:avLst>
          </a:prstGeom>
          <a:solidFill>
            <a:srgbClr val="59595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3553658"/>
            <a:ext cx="6521410" cy="22860"/>
          </a:xfrm>
          <a:prstGeom prst="roundRect">
            <a:avLst>
              <a:gd name="adj" fmla="val 119070"/>
            </a:avLst>
          </a:prstGeom>
          <a:solidFill>
            <a:srgbClr val="59595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6532" y="37351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Terminado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4417695"/>
            <a:ext cx="244875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Fases del Proyecto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4918829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3790" y="5204341"/>
            <a:ext cx="6448782" cy="2286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25" name="Text 23"/>
          <p:cNvSpPr/>
          <p:nvPr/>
        </p:nvSpPr>
        <p:spPr>
          <a:xfrm>
            <a:off x="793790" y="534078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Planeación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93790" y="5711309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Requerimientos · Diseño UI · Arquitectura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87709" y="4918829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87709" y="5204341"/>
            <a:ext cx="6448901" cy="2286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29" name="Text 27"/>
          <p:cNvSpPr/>
          <p:nvPr/>
        </p:nvSpPr>
        <p:spPr>
          <a:xfrm>
            <a:off x="7387709" y="534078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Desarrollo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387709" y="5711309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Angular · Backend NestJS · Integración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3790" y="6253758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93790" y="6539270"/>
            <a:ext cx="6448782" cy="2286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33" name="Text 31"/>
          <p:cNvSpPr/>
          <p:nvPr/>
        </p:nvSpPr>
        <p:spPr>
          <a:xfrm>
            <a:off x="793790" y="66757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Pruebas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93790" y="7046238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funcionales · Corrección de errores · Optimización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87709" y="6253758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87709" y="6539270"/>
            <a:ext cx="6448901" cy="2286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37" name="Text 35"/>
          <p:cNvSpPr/>
          <p:nvPr/>
        </p:nvSpPr>
        <p:spPr>
          <a:xfrm>
            <a:off x="7387709" y="66757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Entrega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387709" y="7046238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Documentación · Presentación final · Despliegue</a:t>
            </a:r>
            <a:endParaRPr lang="en-US" sz="140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916D8DA2-1A85-462D-B62C-BC31B6D6E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161" y="7679746"/>
            <a:ext cx="2652239" cy="5498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A4D4F7-E896-4EF0-A287-F16D674EDE33}"/>
              </a:ext>
            </a:extLst>
          </p:cNvPr>
          <p:cNvSpPr txBox="1"/>
          <p:nvPr/>
        </p:nvSpPr>
        <p:spPr>
          <a:xfrm>
            <a:off x="627320" y="1201479"/>
            <a:ext cx="3593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interfaces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260805-CDE2-4FBC-80DA-7FB971FE6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865" y="7769754"/>
            <a:ext cx="1683843" cy="3490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D11FF5-E640-47BF-92E2-53FCDB6D3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96" y="577375"/>
            <a:ext cx="3477110" cy="71923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3AD4D62-E008-4C55-920B-80EE5A7EB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984" y="459846"/>
            <a:ext cx="3372321" cy="750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7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E1FE98-B7A5-4244-AA04-3148F511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087" y="7793666"/>
            <a:ext cx="1846313" cy="3827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093A86E-EF57-49AF-9104-69EE27CA8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01" y="325024"/>
            <a:ext cx="3648584" cy="74686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5D7956-CBE4-4B11-8D60-AAEB59F7B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250" y="370952"/>
            <a:ext cx="3581900" cy="74876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A9DFC84-BA08-412E-BB89-968D70204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606" y="394768"/>
            <a:ext cx="3381847" cy="74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9BE21C-6B9E-4010-8B3A-0260B54F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053" y="7504126"/>
            <a:ext cx="3499347" cy="7254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0EB332-FEE5-4C3E-88AB-1A476C727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42" y="423347"/>
            <a:ext cx="3419952" cy="73829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1DCDA5-AA15-4662-B2DD-A14A7F6B7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347" y="585294"/>
            <a:ext cx="3581900" cy="72209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6365578-4A13-41DC-8E2E-B8C21368B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316" y="585295"/>
            <a:ext cx="5987800" cy="701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1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66330D-5FC5-4EB9-8E19-24FA4FD80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607" y="7227680"/>
            <a:ext cx="4832793" cy="10019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9DFEEE7-BE0B-4478-AAF5-65F0E0883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60" y="420705"/>
            <a:ext cx="3562847" cy="71542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F80DB6-05B2-40AF-8328-C569B3E3D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803" y="138809"/>
            <a:ext cx="3369514" cy="74361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CA84917-4629-4AEA-B200-D61F1FD6F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596" y="127335"/>
            <a:ext cx="3419952" cy="74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02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5049B7-C9A7-4DFE-A817-8473222E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191" y="7397801"/>
            <a:ext cx="4012209" cy="8317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949EFF9-EF4F-4F8B-8427-3F0920EC9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341" y="280452"/>
            <a:ext cx="3639058" cy="76686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2CF075-BE52-4768-A033-73AFEE162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195" y="320280"/>
            <a:ext cx="3530010" cy="75890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A1A8DE-6A50-402A-8EB8-B7951D72C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095" y="280452"/>
            <a:ext cx="3530009" cy="768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9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957" y="1616149"/>
            <a:ext cx="5124893" cy="51248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muchas gracias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795</Words>
  <Application>Microsoft Office PowerPoint</Application>
  <PresentationFormat>Personalizado</PresentationFormat>
  <Paragraphs>155</Paragraphs>
  <Slides>16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Roboto Mono Light</vt:lpstr>
      <vt:lpstr>Arial</vt:lpstr>
      <vt:lpstr>Roboto Mono Medium</vt:lpstr>
      <vt:lpstr>Roboto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hector tamayo</dc:creator>
  <cp:lastModifiedBy>hector tamayo</cp:lastModifiedBy>
  <cp:revision>5</cp:revision>
  <dcterms:created xsi:type="dcterms:W3CDTF">2026-04-22T21:21:10Z</dcterms:created>
  <dcterms:modified xsi:type="dcterms:W3CDTF">2026-04-23T09:20:12Z</dcterms:modified>
</cp:coreProperties>
</file>